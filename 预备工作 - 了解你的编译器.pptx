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hyperlink" Target="https://ascendnpu-ir.gitcode.com/zh_cn/sources/introduction/quick_start/examples_zh.html" TargetMode="Externa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1.tmp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hyperlink" Target="https://www.hiascend.com/cann/bisheng" TargetMode="Externa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hyperlink" Target="https://www.overleaf.com/read/hnsjbjyknbdj&#8212;&#8212;" TargetMode="Externa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image" Target="../media/image1.tmp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hyperlink" Target="https://yundongxiaoyang.top/wiki/latex-equation/" TargetMode="Externa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预备工作</a:t>
            </a:r>
            <a:br>
              <a:rPr lang="en-US" altLang="zh-CN" dirty="0"/>
            </a:br>
            <a:r>
              <a:rPr lang="zh-CN" altLang="zh-CN" dirty="0"/>
              <a:t>了解你的编译器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LLVM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r>
              <a:rPr lang="zh-CN" altLang="en-US" dirty="0"/>
              <a:t>编程</a:t>
            </a:r>
            <a:br>
              <a:rPr lang="en-US" altLang="zh-CN" dirty="0"/>
            </a:br>
            <a:r>
              <a:rPr lang="en-US" altLang="zh-CN" dirty="0"/>
              <a:t>&amp; </a:t>
            </a:r>
            <a:r>
              <a:rPr lang="zh-CN" altLang="en-US" dirty="0"/>
              <a:t>汇编编程</a:t>
            </a:r>
            <a:br>
              <a:rPr lang="en-US" altLang="zh-CN" dirty="0"/>
            </a:br>
            <a:r>
              <a:rPr lang="zh-CN" altLang="en-US" dirty="0"/>
              <a:t>（小组合作）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总分</a:t>
            </a:r>
            <a:r>
              <a:rPr lang="en-US" altLang="zh-CN" sz="2000" dirty="0">
                <a:solidFill>
                  <a:srgbClr val="000000"/>
                </a:solidFill>
              </a:rPr>
              <a:t>: 5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首先确定上机作业两人分组</a:t>
            </a:r>
            <a:r>
              <a:rPr lang="en-US" altLang="zh-CN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可跨班，报告助教备案，之后不应改变</a:t>
            </a:r>
            <a:endParaRPr lang="en-US" altLang="zh-CN" sz="14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基本要求（</a:t>
            </a:r>
            <a:r>
              <a:rPr lang="en-US" altLang="zh-CN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分）：</a:t>
            </a:r>
            <a:endParaRPr lang="en-US" altLang="zh-CN" sz="14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GCC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（或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LLVM/Clang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等你常用的、熟悉的编译工具）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为研究对象，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研究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语言处理系统的完整工作过程：预处理器做了什么？编译器做了什么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（包括更细致的编译器各阶段的功能） 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？汇编器做了什么？链接器做了什么？</a:t>
            </a: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熟悉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LLVM IR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中间语言和汇编语言：设计</a:t>
            </a:r>
            <a:r>
              <a:rPr lang="en-US" altLang="zh-CN" sz="14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SysY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示例程序涵盖编译器要支持的语言特性（各种数值运算，赋值、条件分支、循环等语句，函数，以及其他进阶特性），编写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LLVM IR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程序以及</a:t>
            </a:r>
            <a:r>
              <a:rPr lang="en-US" altLang="zh-CN" sz="1400" dirty="0"/>
              <a:t>ARM</a:t>
            </a:r>
            <a:r>
              <a:rPr lang="zh-CN" altLang="en-US" sz="1400" dirty="0"/>
              <a:t>或</a:t>
            </a:r>
            <a:r>
              <a:rPr lang="en-US" altLang="zh-CN" sz="1400" dirty="0"/>
              <a:t>RISC-V</a:t>
            </a:r>
            <a:r>
              <a:rPr lang="zh-CN" altLang="zh-CN" sz="1400" dirty="0"/>
              <a:t>汇编程序</a:t>
            </a:r>
            <a:r>
              <a:rPr lang="zh-CN" altLang="en-US" sz="1400" dirty="0"/>
              <a:t>，与</a:t>
            </a:r>
            <a:r>
              <a:rPr lang="en-US" altLang="zh-CN" sz="1400" dirty="0" err="1"/>
              <a:t>SysY</a:t>
            </a:r>
            <a:r>
              <a:rPr lang="zh-CN" altLang="en-US" sz="1400" dirty="0"/>
              <a:t>源程序等价、且能链接</a:t>
            </a:r>
            <a:r>
              <a:rPr lang="en-US" altLang="zh-CN" sz="1400" dirty="0" err="1"/>
              <a:t>SysY</a:t>
            </a:r>
            <a:r>
              <a:rPr lang="zh-CN" altLang="en-US" sz="1400" dirty="0"/>
              <a:t>运行库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，用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LLVM/Clang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、汇编器编译成成目标程序，验证运行结果是否正确。</a:t>
            </a: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4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进阶要求（</a:t>
            </a:r>
            <a:r>
              <a:rPr lang="en-US" altLang="zh-CN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分）：观察 </a:t>
            </a:r>
            <a:r>
              <a:rPr lang="en-US" altLang="zh-CN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AI </a:t>
            </a:r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编译器 </a:t>
            </a:r>
            <a:r>
              <a:rPr lang="en-US" altLang="zh-CN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MLIR </a:t>
            </a:r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中端处理过程</a:t>
            </a:r>
            <a:endParaRPr lang="en-US" altLang="zh-CN" sz="14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与基础任务中 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LLVM IR 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的单层中间表示不同，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MLIR 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支持多级方言和渐进式降低，能在不同抽象层级上表达和优化程序。</a:t>
            </a:r>
            <a:r>
              <a:rPr lang="en-US" altLang="zh-CN" sz="14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AscendNPU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IR 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是华为基于 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MLIR 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生态构建的昇腾硬件抽象层，其方言工作在中端编译层。参考官方快速入门中的 </a:t>
            </a:r>
            <a:r>
              <a:rPr lang="en-US" altLang="zh-CN" sz="1400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VecAdd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示例，探索 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MLIR 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中端的逐层 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lowering 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过程。</a:t>
            </a:r>
          </a:p>
          <a:p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参考资料：</a:t>
            </a:r>
            <a:endParaRPr lang="en-US" altLang="zh-CN" sz="1400" b="1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  <a:hlinkClick r:id="rId18"/>
              </a:rPr>
              <a:t>https://ascendnpu-ir.gitcode.com/zh_cn/sources/introduction/quick_start/examples_zh.html</a:t>
            </a: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  <a:hlinkClick r:id="rId19"/>
              </a:rPr>
              <a:t>https://www.hiascend.com/cann/bisheng</a:t>
            </a: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说明：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本任务为进阶要求，留给同学们自行探索。环境配置可参考官方文档，若存在困难，可阅读文档、了解方言设计差异，在报告中体现你的探索过程即可。</a:t>
            </a: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646730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作业完成要求</a:t>
            </a:r>
            <a:r>
              <a:rPr lang="zh-CN" altLang="zh-CN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以一个简单的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C/C++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源程序为例（如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后面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的阶乘程序、斐波那契程序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等，做一个即可，做多个但只是重复相同工作不会给更高分数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）利用编译器的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命令行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选项获得各阶段的输出，研究它们与源程序的关系。</a:t>
            </a:r>
          </a:p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撰写调研报告（符合科技论文写作规范，包含完整结构：题目、摘要、关键字、引言、你的工作和结果的具体介绍、结论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及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参考文献，文字、图、表符合格式规范）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，必须提交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pdf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格式，建议用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latex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撰写（可基于此模板</a:t>
            </a:r>
            <a:r>
              <a:rPr lang="en-US" altLang="zh-CN" sz="1400" dirty="0">
                <a:hlinkClick r:id="rId18"/>
              </a:rPr>
              <a:t>https://www.overleaf.com/read/</a:t>
            </a:r>
            <a:r>
              <a:rPr lang="en-US" altLang="zh-CN" sz="1400" dirty="0" err="1">
                <a:hlinkClick r:id="rId18"/>
              </a:rPr>
              <a:t>hnsjbjyknbdj</a:t>
            </a:r>
            <a:r>
              <a:rPr lang="en-US" altLang="zh-CN" sz="1400" dirty="0">
                <a:hlinkClick r:id="rId18"/>
              </a:rPr>
              <a:t>——</a:t>
            </a:r>
            <a:r>
              <a:rPr lang="zh-CN" altLang="en-US" sz="1400" dirty="0"/>
              <a:t>这是一个很流行的</a:t>
            </a:r>
            <a:r>
              <a:rPr lang="en-US" altLang="zh-CN" sz="1400" dirty="0"/>
              <a:t>latex</a:t>
            </a:r>
            <a:r>
              <a:rPr lang="zh-CN" altLang="en-US" sz="1400" dirty="0"/>
              <a:t>文档协同编辑网站，</a:t>
            </a:r>
            <a:r>
              <a:rPr lang="en-US" altLang="zh-CN" sz="1400" dirty="0"/>
              <a:t>copy</a:t>
            </a:r>
            <a:r>
              <a:rPr lang="zh-CN" altLang="en-US" sz="1400" dirty="0"/>
              <a:t>此</a:t>
            </a:r>
            <a:r>
              <a:rPr lang="en-US" altLang="zh-CN" sz="1400" dirty="0"/>
              <a:t>project</a:t>
            </a:r>
            <a:r>
              <a:rPr lang="zh-CN" altLang="en-US" sz="1400" dirty="0"/>
              <a:t>即可成为自己的项目，在其上编辑即可，更多</a:t>
            </a:r>
            <a:r>
              <a:rPr lang="en-US" altLang="zh-CN" sz="1400" dirty="0"/>
              <a:t>latex</a:t>
            </a:r>
            <a:r>
              <a:rPr lang="zh-CN" altLang="en-US" sz="1400" dirty="0"/>
              <a:t>参考资料：</a:t>
            </a:r>
            <a:endParaRPr lang="en-US" altLang="zh-CN" sz="1400" dirty="0"/>
          </a:p>
          <a:p>
            <a:pPr lvl="1" algn="just"/>
            <a:r>
              <a:rPr lang="en-US" altLang="zh-CN" sz="1400" dirty="0"/>
              <a:t>LaTeX</a:t>
            </a:r>
            <a:r>
              <a:rPr lang="zh-CN" altLang="en-US" sz="1400" dirty="0"/>
              <a:t>入门：</a:t>
            </a:r>
            <a:r>
              <a:rPr lang="en-US" altLang="zh-CN" sz="1400" dirty="0"/>
              <a:t>https://liam.page/2014/09/08/latex-introduction/</a:t>
            </a:r>
          </a:p>
          <a:p>
            <a:pPr lvl="1" algn="just"/>
            <a:r>
              <a:rPr lang="en-US" altLang="zh-CN" sz="1400" dirty="0"/>
              <a:t>LaTeX</a:t>
            </a:r>
            <a:r>
              <a:rPr lang="zh-CN" altLang="en-US" sz="1400" dirty="0"/>
              <a:t>命令与符号汇总：</a:t>
            </a:r>
            <a:endParaRPr lang="en-US" altLang="zh-CN" sz="1400" dirty="0"/>
          </a:p>
          <a:p>
            <a:pPr lvl="1" algn="just"/>
            <a:r>
              <a:rPr lang="en-US" altLang="zh-CN" sz="1400" dirty="0"/>
              <a:t>https://blog.csdn.net/garfielder007/article/details/51646604</a:t>
            </a:r>
          </a:p>
          <a:p>
            <a:pPr lvl="1" algn="just"/>
            <a:r>
              <a:rPr lang="en-US" altLang="zh-CN" sz="1400" dirty="0"/>
              <a:t>LaTeX</a:t>
            </a:r>
            <a:r>
              <a:rPr lang="zh-CN" altLang="en-US" sz="1400" dirty="0"/>
              <a:t>数学公式等符号书写：</a:t>
            </a:r>
            <a:endParaRPr lang="en-US" altLang="zh-CN" sz="1400" dirty="0"/>
          </a:p>
          <a:p>
            <a:pPr lvl="1" algn="just"/>
            <a:r>
              <a:rPr lang="en-US" altLang="zh-CN" sz="1400" dirty="0">
                <a:hlinkClick r:id="rId19"/>
              </a:rPr>
              <a:t>https://yundongxiaoyang.top/wiki/latex-equation/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小组两人合作完成作业，共同撰写一份报告即可，</a:t>
            </a:r>
            <a:r>
              <a:rPr lang="zh-CN" altLang="en-US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在报告开始描述清楚两人分工，两人在小雅平台都要提交报告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，否则无法打分。</a:t>
            </a: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报告中基本要求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部分要简洁明了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特别是讲义中已涉及的部分，自由探索部分可更详细介绍。</a:t>
            </a: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期望不要当作“命题作文”，更多发挥主观能动性，做更多探索。例如：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细微修改程序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、调整编译器命令选项（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加入调试选项、优化选项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（自动并行化）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），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观察各阶段输出的变化，从而更清楚地了解编译器的工作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6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646730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213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75B8A89-E433-43FE-BE41-AC1F7570F70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lvl="0"/>
            <a:r>
              <a:rPr lang="zh-CN" altLang="zh-CN" dirty="0"/>
              <a:t>阶乘</a:t>
            </a:r>
          </a:p>
          <a:p>
            <a:r>
              <a:rPr lang="en-US" altLang="zh-CN" dirty="0"/>
              <a:t>main()</a:t>
            </a:r>
            <a:endParaRPr lang="zh-CN" altLang="zh-CN" dirty="0"/>
          </a:p>
          <a:p>
            <a:r>
              <a:rPr lang="en-US" altLang="zh-CN" dirty="0"/>
              <a:t>{</a:t>
            </a:r>
            <a:endParaRPr lang="zh-CN" altLang="zh-CN" dirty="0"/>
          </a:p>
          <a:p>
            <a:r>
              <a:rPr lang="en-US" altLang="zh-CN" dirty="0"/>
              <a:t>	int </a:t>
            </a:r>
            <a:r>
              <a:rPr lang="en-US" altLang="zh-CN" dirty="0" err="1"/>
              <a:t>i</a:t>
            </a:r>
            <a:r>
              <a:rPr lang="en-US" altLang="zh-CN" dirty="0"/>
              <a:t>, n, f;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n;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i</a:t>
            </a:r>
            <a:r>
              <a:rPr lang="en-US" altLang="zh-CN" dirty="0"/>
              <a:t> = 2;</a:t>
            </a:r>
            <a:endParaRPr lang="zh-CN" altLang="zh-CN" dirty="0"/>
          </a:p>
          <a:p>
            <a:r>
              <a:rPr lang="en-US" altLang="zh-CN" dirty="0"/>
              <a:t>	f = 1;</a:t>
            </a:r>
            <a:endParaRPr lang="zh-CN" altLang="zh-CN" dirty="0"/>
          </a:p>
          <a:p>
            <a:r>
              <a:rPr lang="en-US" altLang="zh-CN" dirty="0"/>
              <a:t>	while (</a:t>
            </a:r>
            <a:r>
              <a:rPr lang="en-US" altLang="zh-CN" dirty="0" err="1"/>
              <a:t>i</a:t>
            </a:r>
            <a:r>
              <a:rPr lang="en-US" altLang="zh-CN" dirty="0"/>
              <a:t> &lt;= n)</a:t>
            </a:r>
            <a:endParaRPr lang="zh-CN" altLang="zh-CN" dirty="0"/>
          </a:p>
          <a:p>
            <a:r>
              <a:rPr lang="en-US" altLang="zh-CN" dirty="0"/>
              <a:t>	{</a:t>
            </a:r>
            <a:endParaRPr lang="zh-CN" altLang="zh-CN" dirty="0"/>
          </a:p>
          <a:p>
            <a:r>
              <a:rPr lang="en-US" altLang="zh-CN" dirty="0"/>
              <a:t>		f = f *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i</a:t>
            </a:r>
            <a:r>
              <a:rPr lang="en-US" altLang="zh-CN" dirty="0"/>
              <a:t> + 1;</a:t>
            </a:r>
            <a:endParaRPr lang="zh-CN" altLang="zh-CN" dirty="0"/>
          </a:p>
          <a:p>
            <a:r>
              <a:rPr lang="en-US" altLang="zh-CN" dirty="0"/>
              <a:t>	}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f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}</a:t>
            </a:r>
            <a:endParaRPr lang="zh-CN" altLang="zh-CN" dirty="0"/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zh-CN" altLang="zh-CN" dirty="0"/>
              <a:t>斐波那契数列</a:t>
            </a:r>
          </a:p>
          <a:p>
            <a:r>
              <a:rPr lang="en-US" altLang="zh-CN" dirty="0"/>
              <a:t>main()</a:t>
            </a:r>
            <a:endParaRPr lang="zh-CN" altLang="zh-CN" dirty="0"/>
          </a:p>
          <a:p>
            <a:r>
              <a:rPr lang="en-US" altLang="zh-CN" dirty="0"/>
              <a:t>{</a:t>
            </a:r>
            <a:endParaRPr lang="zh-CN" altLang="zh-CN" dirty="0"/>
          </a:p>
          <a:p>
            <a:r>
              <a:rPr lang="en-US" altLang="zh-CN" dirty="0"/>
              <a:t>	int a, b, </a:t>
            </a:r>
            <a:r>
              <a:rPr lang="en-US" altLang="zh-CN" dirty="0" err="1"/>
              <a:t>i</a:t>
            </a:r>
            <a:r>
              <a:rPr lang="en-US" altLang="zh-CN" dirty="0"/>
              <a:t>, t, n;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	a = 0;</a:t>
            </a:r>
            <a:endParaRPr lang="zh-CN" altLang="zh-CN" dirty="0"/>
          </a:p>
          <a:p>
            <a:r>
              <a:rPr lang="en-US" altLang="zh-CN" dirty="0"/>
              <a:t>	b = 1;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i</a:t>
            </a:r>
            <a:r>
              <a:rPr lang="en-US" altLang="zh-CN" dirty="0"/>
              <a:t> = 1;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n;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a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b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while (</a:t>
            </a:r>
            <a:r>
              <a:rPr lang="en-US" altLang="zh-CN" dirty="0" err="1"/>
              <a:t>i</a:t>
            </a:r>
            <a:r>
              <a:rPr lang="en-US" altLang="zh-CN" dirty="0"/>
              <a:t> &lt; n)</a:t>
            </a:r>
            <a:endParaRPr lang="zh-CN" altLang="zh-CN" dirty="0"/>
          </a:p>
          <a:p>
            <a:r>
              <a:rPr lang="en-US" altLang="zh-CN" dirty="0"/>
              <a:t>	{</a:t>
            </a:r>
            <a:endParaRPr lang="zh-CN" altLang="zh-CN" dirty="0"/>
          </a:p>
          <a:p>
            <a:r>
              <a:rPr lang="en-US" altLang="zh-CN" dirty="0"/>
              <a:t>		t = b;</a:t>
            </a:r>
            <a:endParaRPr lang="zh-CN" altLang="zh-CN" dirty="0"/>
          </a:p>
          <a:p>
            <a:r>
              <a:rPr lang="en-US" altLang="zh-CN" dirty="0"/>
              <a:t>		b = a + b;</a:t>
            </a:r>
            <a:endParaRPr lang="zh-CN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b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	a = t;</a:t>
            </a:r>
            <a:endParaRPr lang="zh-CN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i</a:t>
            </a:r>
            <a:r>
              <a:rPr lang="en-US" altLang="zh-CN" dirty="0"/>
              <a:t> + 1;</a:t>
            </a:r>
            <a:endParaRPr lang="zh-CN" altLang="zh-CN" dirty="0"/>
          </a:p>
          <a:p>
            <a:r>
              <a:rPr lang="en-US" altLang="zh-CN" dirty="0"/>
              <a:t>	}</a:t>
            </a:r>
            <a:endParaRPr lang="zh-CN" altLang="zh-CN" dirty="0"/>
          </a:p>
          <a:p>
            <a:r>
              <a:rPr lang="en-US" altLang="zh-CN" dirty="0"/>
              <a:t>}</a:t>
            </a:r>
            <a:endParaRPr lang="zh-CN" altLang="zh-CN" dirty="0"/>
          </a:p>
          <a:p>
            <a:pPr lvl="0" algn="just">
              <a:spcAft>
                <a:spcPts val="0"/>
              </a:spcAft>
            </a:pPr>
            <a:endParaRPr lang="zh-CN" altLang="zh-CN" sz="14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270000" algn="just">
              <a:spcAft>
                <a:spcPts val="0"/>
              </a:spcAft>
            </a:pPr>
            <a:endParaRPr lang="en-US" altLang="zh-CN" sz="16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77068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VOICEALLOWED" val="False"/>
  <p:tag name="PROBLEMSCORE" val="5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VOICEALLOWED" val="False"/>
  <p:tag name="PROBLEMSCORE" val="5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998</Words>
  <Application>Microsoft Office PowerPoint</Application>
  <PresentationFormat>全屏显示(16:10)</PresentationFormat>
  <Paragraphs>75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Microsoft Yahei</vt:lpstr>
      <vt:lpstr>等线</vt:lpstr>
      <vt:lpstr>等线 Light</vt:lpstr>
      <vt:lpstr>Arial</vt:lpstr>
      <vt:lpstr>Times New Roman</vt:lpstr>
      <vt:lpstr>Office 主题​​</vt:lpstr>
      <vt:lpstr>预备工作 了解你的编译器 &amp; LLVM IR编程 &amp; 汇编编程 （小组合作）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Administrator</cp:lastModifiedBy>
  <cp:revision>36</cp:revision>
  <dcterms:created xsi:type="dcterms:W3CDTF">2019-09-29T04:07:54Z</dcterms:created>
  <dcterms:modified xsi:type="dcterms:W3CDTF">2026-09-22T10:16:02Z</dcterms:modified>
</cp:coreProperties>
</file>